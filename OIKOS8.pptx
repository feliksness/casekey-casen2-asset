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85" r:id="rId2"/>
    <p:sldId id="259" r:id="rId3"/>
    <p:sldId id="256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Gelasio" pitchFamily="2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AE4"/>
    <a:srgbClr val="6D6E71"/>
    <a:srgbClr val="F0E9E1"/>
    <a:srgbClr val="FEFEFE"/>
    <a:srgbClr val="B8B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23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94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7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0" name="Picture 6" descr="babe Logo Download png">
            <a:extLst>
              <a:ext uri="{FF2B5EF4-FFF2-40B4-BE49-F238E27FC236}">
                <a16:creationId xmlns:a16="http://schemas.microsoft.com/office/drawing/2014/main" id="{16A722B8-9939-B812-EE6C-5057CEF13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seKey | LinkedIn">
            <a:extLst>
              <a:ext uri="{FF2B5EF4-FFF2-40B4-BE49-F238E27FC236}">
                <a16:creationId xmlns:a16="http://schemas.microsoft.com/office/drawing/2014/main" id="{7A532D6A-8AAD-9583-09A6-75B21254E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10859-E53C-19E4-CEB1-B3307438FD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A804BF-C3CC-77A0-DE8B-F6566FC7B41D}"/>
              </a:ext>
            </a:extLst>
          </p:cNvPr>
          <p:cNvSpPr/>
          <p:nvPr userDrawn="1"/>
        </p:nvSpPr>
        <p:spPr>
          <a:xfrm>
            <a:off x="-677198" y="6605258"/>
            <a:ext cx="2459105" cy="26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OVERVIEW</a:t>
            </a:r>
            <a:endParaRPr lang="en-US" sz="14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E18D5BDB-F9B5-A95F-D625-08F917AE3E37}"/>
              </a:ext>
            </a:extLst>
          </p:cNvPr>
          <p:cNvSpPr/>
          <p:nvPr userDrawn="1"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0" name="Picture 6" descr="babe Logo Download png">
            <a:extLst>
              <a:ext uri="{FF2B5EF4-FFF2-40B4-BE49-F238E27FC236}">
                <a16:creationId xmlns:a16="http://schemas.microsoft.com/office/drawing/2014/main" id="{16A722B8-9939-B812-EE6C-5057CEF13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seKey | LinkedIn">
            <a:extLst>
              <a:ext uri="{FF2B5EF4-FFF2-40B4-BE49-F238E27FC236}">
                <a16:creationId xmlns:a16="http://schemas.microsoft.com/office/drawing/2014/main" id="{7A532D6A-8AAD-9583-09A6-75B21254E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10859-E53C-19E4-CEB1-B3307438FD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5FA05F-969D-8F5D-E481-BC5900A4D250}"/>
              </a:ext>
            </a:extLst>
          </p:cNvPr>
          <p:cNvSpPr/>
          <p:nvPr userDrawn="1"/>
        </p:nvSpPr>
        <p:spPr>
          <a:xfrm>
            <a:off x="-677198" y="6605258"/>
            <a:ext cx="2459105" cy="26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ANALYSIS</a:t>
            </a:r>
            <a:endParaRPr lang="en-US" sz="14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D0D0C055-78D3-61EF-E9A9-05BED366B67B}"/>
              </a:ext>
            </a:extLst>
          </p:cNvPr>
          <p:cNvSpPr/>
          <p:nvPr userDrawn="1"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5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0" name="Picture 6" descr="babe Logo Download png">
            <a:extLst>
              <a:ext uri="{FF2B5EF4-FFF2-40B4-BE49-F238E27FC236}">
                <a16:creationId xmlns:a16="http://schemas.microsoft.com/office/drawing/2014/main" id="{16A722B8-9939-B812-EE6C-5057CEF13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seKey | LinkedIn">
            <a:extLst>
              <a:ext uri="{FF2B5EF4-FFF2-40B4-BE49-F238E27FC236}">
                <a16:creationId xmlns:a16="http://schemas.microsoft.com/office/drawing/2014/main" id="{7A532D6A-8AAD-9583-09A6-75B21254E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10859-E53C-19E4-CEB1-B3307438FD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5FA05F-969D-8F5D-E481-BC5900A4D250}"/>
              </a:ext>
            </a:extLst>
          </p:cNvPr>
          <p:cNvSpPr/>
          <p:nvPr userDrawn="1"/>
        </p:nvSpPr>
        <p:spPr>
          <a:xfrm>
            <a:off x="-677198" y="6605258"/>
            <a:ext cx="2459105" cy="26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</a:t>
            </a:r>
            <a:endParaRPr lang="en-US" sz="14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A828A165-3E79-917A-A23C-BD7FD788E892}"/>
              </a:ext>
            </a:extLst>
          </p:cNvPr>
          <p:cNvSpPr/>
          <p:nvPr userDrawn="1"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9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0" name="Picture 6" descr="babe Logo Download png">
            <a:extLst>
              <a:ext uri="{FF2B5EF4-FFF2-40B4-BE49-F238E27FC236}">
                <a16:creationId xmlns:a16="http://schemas.microsoft.com/office/drawing/2014/main" id="{16A722B8-9939-B812-EE6C-5057CEF13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seKey | LinkedIn">
            <a:extLst>
              <a:ext uri="{FF2B5EF4-FFF2-40B4-BE49-F238E27FC236}">
                <a16:creationId xmlns:a16="http://schemas.microsoft.com/office/drawing/2014/main" id="{7A532D6A-8AAD-9583-09A6-75B21254E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10859-E53C-19E4-CEB1-B3307438FD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5FA05F-969D-8F5D-E481-BC5900A4D250}"/>
              </a:ext>
            </a:extLst>
          </p:cNvPr>
          <p:cNvSpPr/>
          <p:nvPr userDrawn="1"/>
        </p:nvSpPr>
        <p:spPr>
          <a:xfrm>
            <a:off x="-677198" y="6605258"/>
            <a:ext cx="2459105" cy="26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STRATEGY</a:t>
            </a:r>
            <a:endParaRPr lang="en-US" sz="14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CED4FC0A-57EF-47F9-74EB-ED7FA2820EB9}"/>
              </a:ext>
            </a:extLst>
          </p:cNvPr>
          <p:cNvSpPr/>
          <p:nvPr userDrawn="1"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1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030" name="Picture 6" descr="babe Logo Download png">
            <a:extLst>
              <a:ext uri="{FF2B5EF4-FFF2-40B4-BE49-F238E27FC236}">
                <a16:creationId xmlns:a16="http://schemas.microsoft.com/office/drawing/2014/main" id="{16A722B8-9939-B812-EE6C-5057CEF13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seKey | LinkedIn">
            <a:extLst>
              <a:ext uri="{FF2B5EF4-FFF2-40B4-BE49-F238E27FC236}">
                <a16:creationId xmlns:a16="http://schemas.microsoft.com/office/drawing/2014/main" id="{7A532D6A-8AAD-9583-09A6-75B21254E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10859-E53C-19E4-CEB1-B3307438FD7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5FA05F-969D-8F5D-E481-BC5900A4D250}"/>
              </a:ext>
            </a:extLst>
          </p:cNvPr>
          <p:cNvSpPr/>
          <p:nvPr userDrawn="1"/>
        </p:nvSpPr>
        <p:spPr>
          <a:xfrm>
            <a:off x="-677198" y="6605258"/>
            <a:ext cx="2459105" cy="26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APPENDIX</a:t>
            </a:r>
            <a:endParaRPr lang="en-US" sz="14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CD9614D9-2434-414A-227C-C7176C89C3E9}"/>
              </a:ext>
            </a:extLst>
          </p:cNvPr>
          <p:cNvSpPr/>
          <p:nvPr userDrawn="1"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21.png"/><Relationship Id="rId12" Type="http://schemas.openxmlformats.org/officeDocument/2006/relationships/image" Target="../media/image41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sv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5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9.png"/><Relationship Id="rId7" Type="http://schemas.openxmlformats.org/officeDocument/2006/relationships/image" Target="../media/image52.pn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svg"/><Relationship Id="rId11" Type="http://schemas.openxmlformats.org/officeDocument/2006/relationships/image" Target="../media/image65.png"/><Relationship Id="rId5" Type="http://schemas.openxmlformats.org/officeDocument/2006/relationships/image" Target="../media/image61.png"/><Relationship Id="rId10" Type="http://schemas.openxmlformats.org/officeDocument/2006/relationships/image" Target="../media/image64.svg"/><Relationship Id="rId4" Type="http://schemas.openxmlformats.org/officeDocument/2006/relationships/image" Target="../media/image60.svg"/><Relationship Id="rId9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44.png"/><Relationship Id="rId12" Type="http://schemas.openxmlformats.org/officeDocument/2006/relationships/image" Target="../media/image72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76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svg"/><Relationship Id="rId11" Type="http://schemas.openxmlformats.org/officeDocument/2006/relationships/image" Target="../media/image71.png"/><Relationship Id="rId5" Type="http://schemas.openxmlformats.org/officeDocument/2006/relationships/image" Target="../media/image27.png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4" Type="http://schemas.openxmlformats.org/officeDocument/2006/relationships/image" Target="../media/image68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.sv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babe Logo Download png">
            <a:extLst>
              <a:ext uri="{FF2B5EF4-FFF2-40B4-BE49-F238E27FC236}">
                <a16:creationId xmlns:a16="http://schemas.microsoft.com/office/drawing/2014/main" id="{89FE1B39-AE2D-C6DB-2AC4-C262B5A2A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33" y="372022"/>
            <a:ext cx="3132667" cy="196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102D1A8-B2DE-1BBF-A6EB-6A4769EC9915}"/>
              </a:ext>
            </a:extLst>
          </p:cNvPr>
          <p:cNvSpPr/>
          <p:nvPr/>
        </p:nvSpPr>
        <p:spPr>
          <a:xfrm>
            <a:off x="7882466" y="0"/>
            <a:ext cx="1268031" cy="74404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1A0A8052-46AF-E5D6-198D-C93AA3B661CB}"/>
              </a:ext>
            </a:extLst>
          </p:cNvPr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8BC0874-AD38-AE4F-85F2-09D84D3A8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75400" y="4110560"/>
            <a:ext cx="2827867" cy="2827867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D27F02-E853-654A-BAE7-9F90CBB62352}"/>
              </a:ext>
            </a:extLst>
          </p:cNvPr>
          <p:cNvCxnSpPr/>
          <p:nvPr/>
        </p:nvCxnSpPr>
        <p:spPr>
          <a:xfrm flipV="1">
            <a:off x="397933" y="397933"/>
            <a:ext cx="8238067" cy="614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9">
            <a:extLst>
              <a:ext uri="{FF2B5EF4-FFF2-40B4-BE49-F238E27FC236}">
                <a16:creationId xmlns:a16="http://schemas.microsoft.com/office/drawing/2014/main" id="{FF660E3B-96CC-9550-67A9-E7C866EBE841}"/>
              </a:ext>
            </a:extLst>
          </p:cNvPr>
          <p:cNvSpPr/>
          <p:nvPr/>
        </p:nvSpPr>
        <p:spPr>
          <a:xfrm>
            <a:off x="441159" y="4110560"/>
            <a:ext cx="5020733" cy="686842"/>
          </a:xfrm>
          <a:prstGeom prst="roundRect">
            <a:avLst>
              <a:gd name="adj" fmla="val 7585"/>
            </a:avLst>
          </a:prstGeom>
          <a:solidFill>
            <a:srgbClr val="DCDCD5"/>
          </a:solidFill>
          <a:ln/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08EDA8-E90D-F3C2-DE78-BC0FB2DADABD}"/>
              </a:ext>
            </a:extLst>
          </p:cNvPr>
          <p:cNvSpPr txBox="1"/>
          <p:nvPr/>
        </p:nvSpPr>
        <p:spPr>
          <a:xfrm>
            <a:off x="551227" y="4269315"/>
            <a:ext cx="502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lasio" pitchFamily="2" charset="0"/>
                <a:cs typeface="Gelasio" pitchFamily="2" charset="0"/>
              </a:rPr>
              <a:t>CASEKEY Demo Case 2: BABE </a:t>
            </a:r>
            <a:r>
              <a:rPr lang="en-US" dirty="0" err="1">
                <a:latin typeface="Gelasio" pitchFamily="2" charset="0"/>
                <a:cs typeface="Gelasio" pitchFamily="2" charset="0"/>
              </a:rPr>
              <a:t>Laboratorios</a:t>
            </a:r>
            <a:endParaRPr lang="en-US" dirty="0">
              <a:latin typeface="Gelasio" pitchFamily="2" charset="0"/>
              <a:cs typeface="Gelasio" pitchFamily="2" charset="0"/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2602A431-D385-5A90-B00F-9B1728697A2E}"/>
              </a:ext>
            </a:extLst>
          </p:cNvPr>
          <p:cNvSpPr/>
          <p:nvPr/>
        </p:nvSpPr>
        <p:spPr>
          <a:xfrm>
            <a:off x="441160" y="4984225"/>
            <a:ext cx="2183508" cy="686842"/>
          </a:xfrm>
          <a:prstGeom prst="roundRect">
            <a:avLst>
              <a:gd name="adj" fmla="val 7585"/>
            </a:avLst>
          </a:prstGeom>
          <a:solidFill>
            <a:srgbClr val="DCDCD5"/>
          </a:solidFill>
          <a:ln/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AF9EE-E559-6558-FED8-B58FE7A6D919}"/>
              </a:ext>
            </a:extLst>
          </p:cNvPr>
          <p:cNvSpPr txBox="1"/>
          <p:nvPr/>
        </p:nvSpPr>
        <p:spPr>
          <a:xfrm>
            <a:off x="551227" y="5142980"/>
            <a:ext cx="502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lasio" pitchFamily="2" charset="0"/>
                <a:cs typeface="Gelasio" pitchFamily="2" charset="0"/>
              </a:rPr>
              <a:t>TEAM: OIKOS8</a:t>
            </a:r>
          </a:p>
        </p:txBody>
      </p:sp>
    </p:spTree>
    <p:extLst>
      <p:ext uri="{BB962C8B-B14F-4D97-AF65-F5344CB8AC3E}">
        <p14:creationId xmlns:p14="http://schemas.microsoft.com/office/powerpoint/2010/main" val="2789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F80733-B40E-1A26-C9D7-E067E3DB2E85}"/>
              </a:ext>
            </a:extLst>
          </p:cNvPr>
          <p:cNvSpPr/>
          <p:nvPr/>
        </p:nvSpPr>
        <p:spPr>
          <a:xfrm>
            <a:off x="7882466" y="0"/>
            <a:ext cx="1268031" cy="744044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1134533" y="0"/>
            <a:ext cx="3429000" cy="685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4" name="Text 1"/>
          <p:cNvSpPr/>
          <p:nvPr/>
        </p:nvSpPr>
        <p:spPr>
          <a:xfrm>
            <a:off x="3925119" y="2283023"/>
            <a:ext cx="51799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of 4 &gt; </a:t>
            </a: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OVERVIEW</a:t>
            </a: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&gt; The Challenge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256579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Scaling Trust Without Losing Trust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352692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has built its business on trust, pharmacist relationships, and Culture of Care — with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~170% sales growth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across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~50 countries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85% of revenue internationally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4063380"/>
            <a:ext cx="4722763" cy="483617"/>
          </a:xfrm>
          <a:prstGeom prst="roundRect">
            <a:avLst>
              <a:gd name="adj" fmla="val 10773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092" y="4243164"/>
            <a:ext cx="155004" cy="123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28071" y="4205957"/>
            <a:ext cx="4653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 challenge: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How can BABÉ scale trust without diluting it?</a:t>
            </a:r>
            <a:endParaRPr lang="en-US" sz="950" dirty="0"/>
          </a:p>
        </p:txBody>
      </p:sp>
      <p:pic>
        <p:nvPicPr>
          <p:cNvPr id="3" name="Picture 6" descr="babe Logo Download png">
            <a:extLst>
              <a:ext uri="{FF2B5EF4-FFF2-40B4-BE49-F238E27FC236}">
                <a16:creationId xmlns:a16="http://schemas.microsoft.com/office/drawing/2014/main" id="{C3CB73FD-5241-B551-C0AD-0A54FF6C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689" y="78038"/>
            <a:ext cx="496333" cy="3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aseKey | LinkedIn">
            <a:extLst>
              <a:ext uri="{FF2B5EF4-FFF2-40B4-BE49-F238E27FC236}">
                <a16:creationId xmlns:a16="http://schemas.microsoft.com/office/drawing/2014/main" id="{D8106801-9986-9A42-D005-108C0850C8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2316" r="76903" b="91188"/>
          <a:stretch/>
        </p:blipFill>
        <p:spPr bwMode="auto">
          <a:xfrm>
            <a:off x="7950338" y="393392"/>
            <a:ext cx="569116" cy="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1CEB8A-D9DA-0A5B-FBA1-9229F4EB2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4396" y="-15086"/>
            <a:ext cx="619604" cy="619604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C5599BFF-3E65-2F4D-D9C9-17B8F5DD7CED}"/>
              </a:ext>
            </a:extLst>
          </p:cNvPr>
          <p:cNvSpPr/>
          <p:nvPr/>
        </p:nvSpPr>
        <p:spPr>
          <a:xfrm rot="2700000">
            <a:off x="8500891" y="285852"/>
            <a:ext cx="80014" cy="80014"/>
          </a:xfrm>
          <a:prstGeom prst="plus">
            <a:avLst>
              <a:gd name="adj" fmla="val 431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51446" y="347663"/>
            <a:ext cx="920279" cy="164157"/>
          </a:xfrm>
          <a:prstGeom prst="roundRect">
            <a:avLst>
              <a:gd name="adj" fmla="val 19439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1508373" y="376089"/>
            <a:ext cx="1263625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EXECUTIVE SUMMARY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51446" y="540841"/>
            <a:ext cx="5084118" cy="311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 Care Network</a:t>
            </a:r>
            <a:r>
              <a:rPr lang="en-US" sz="18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™</a:t>
            </a: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Transform to Win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451446" y="880914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Opportunity: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51446" y="1138238"/>
            <a:ext cx="624103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has built unmatched trust with pharmacists and consumers across 50 countries. The market is shifting toward care-based, expert-guided skincare. No competitor has built a scalable ecosystem around trust.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51446" y="1515442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Challenge: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51446" y="1772766"/>
            <a:ext cx="669823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BABÉ's trust engine works, but it doesn't scale. Fragmentation across markets, inconsistent experiences, and lack of consumer data limit growth.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51446" y="2015877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Solution: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51446" y="2273201"/>
            <a:ext cx="6698233" cy="14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Care Network</a:t>
            </a:r>
            <a:r>
              <a:rPr lang="en-US" sz="7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a care operating system connecting pharmacists, consumers, dermatologists, and data into one integrated ecosystem.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51446" y="2525837"/>
            <a:ext cx="2599953" cy="23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Four Pillars of Execution: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1446" y="2872308"/>
            <a:ext cx="3084165" cy="7975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22315" y="2932807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555924" y="3239393"/>
            <a:ext cx="12613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Pharmacist Enablement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55924" y="3431307"/>
            <a:ext cx="287521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Training, certification, digital tools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314" y="2872308"/>
            <a:ext cx="3084165" cy="7975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79182" y="2932807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12791" y="3239393"/>
            <a:ext cx="122708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Consumer Engagement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12791" y="3431307"/>
            <a:ext cx="287521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Passport, digital touchpoints, journey tracking</a:t>
            </a:r>
            <a:endParaRPr lang="en-US" sz="7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1446" y="3742581"/>
            <a:ext cx="3084165" cy="8070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922315" y="3803079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555924" y="4109665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&amp; Intelligence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555924" y="4301579"/>
            <a:ext cx="2875211" cy="14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Index</a:t>
            </a:r>
            <a:r>
              <a:rPr lang="en-US" sz="7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AI-driven optimization</a:t>
            </a:r>
            <a:endParaRPr lang="en-US" sz="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8314" y="3742581"/>
            <a:ext cx="3084165" cy="8070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79182" y="3803079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712791" y="4109665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Ecosystem Integration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712791" y="4301579"/>
            <a:ext cx="287521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Regional hubs, cross-country continuity, compliance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1451446" y="4658692"/>
            <a:ext cx="2356619" cy="23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Impact: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1451446" y="5052640"/>
            <a:ext cx="2019746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€50M+</a:t>
            </a:r>
            <a:endParaRPr lang="en-US" sz="2450" dirty="0"/>
          </a:p>
        </p:txBody>
      </p:sp>
      <p:sp>
        <p:nvSpPr>
          <p:cNvPr id="30" name="Text 24"/>
          <p:cNvSpPr/>
          <p:nvPr/>
        </p:nvSpPr>
        <p:spPr>
          <a:xfrm>
            <a:off x="1867719" y="546802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Target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451446" y="5659934"/>
            <a:ext cx="201974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€20M (58% CAGR over 3 years)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3562052" y="5052640"/>
            <a:ext cx="2019746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+8-12%</a:t>
            </a:r>
            <a:endParaRPr lang="en-US" sz="2450" dirty="0"/>
          </a:p>
        </p:txBody>
      </p:sp>
      <p:sp>
        <p:nvSpPr>
          <p:cNvPr id="33" name="Text 27"/>
          <p:cNvSpPr/>
          <p:nvPr/>
        </p:nvSpPr>
        <p:spPr>
          <a:xfrm>
            <a:off x="3978325" y="546802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Margin Increase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562052" y="5659934"/>
            <a:ext cx="201974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Through ecosystem monetization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5672658" y="5052640"/>
            <a:ext cx="2019746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3.5x</a:t>
            </a:r>
            <a:endParaRPr lang="en-US" sz="2450" dirty="0"/>
          </a:p>
        </p:txBody>
      </p:sp>
      <p:sp>
        <p:nvSpPr>
          <p:cNvPr id="36" name="Text 30"/>
          <p:cNvSpPr/>
          <p:nvPr/>
        </p:nvSpPr>
        <p:spPr>
          <a:xfrm>
            <a:off x="6088931" y="5468020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ROI by Year 3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672658" y="5659934"/>
            <a:ext cx="201974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18-month payback period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1451446" y="5875809"/>
            <a:ext cx="669823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</a:t>
            </a:r>
            <a:r>
              <a:rPr lang="en-US" sz="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Competitive Moat:</a:t>
            </a: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Network effects, data advantage, trust lock-in, regulatory leadership     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1451446" y="6118920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Ask: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451446" y="6376243"/>
            <a:ext cx="669823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€8-12M investment to transform BABÉ from a product company into a global care operating system.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93" y="2957364"/>
            <a:ext cx="860881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of 4 &gt;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2792834" y="324013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67593" y="3813721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Understanding the market, competition, and BABÉ's position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904628"/>
            <a:ext cx="8151614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BABÉ's Real Competitive Advantage Is Not Products — It Is Trust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6896" y="2865760"/>
            <a:ext cx="4103117" cy="1719263"/>
          </a:xfrm>
          <a:prstGeom prst="roundRect">
            <a:avLst>
              <a:gd name="adj" fmla="val 5195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870" y="2989734"/>
            <a:ext cx="28431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Traditional Competitive Battlefield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870" y="3307556"/>
            <a:ext cx="43123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 competitors dominate on: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870" y="3617640"/>
            <a:ext cx="3855169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 innovation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Marketing budget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Distribution scale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98973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BABÉ's Hidden Asset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3307556"/>
            <a:ext cx="43817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competes in the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 business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not the skincare business.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617640"/>
            <a:ext cx="3924523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Pharmacists, dermatologists &amp; pediatricians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Relationship-based credibility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"Science with Emotion"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Professional advocacy network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93" y="4724549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B6FCB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7" y="4904333"/>
            <a:ext cx="155004" cy="1239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145" y="4867126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BABÉ's advantage is its trust network.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2020416"/>
            <a:ext cx="47706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Question We Need to Solve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594000"/>
            <a:ext cx="815161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strategic question is not "How can BABÉ sell more products?" It is: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can BABÉ create a globally consistent care experience while scaling through thousands of pharmacies, distributors, and healthcare professionals?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905" y="3130451"/>
            <a:ext cx="2648843" cy="11355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7317" y="3268712"/>
            <a:ext cx="17240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Tension 1: Trust vs. Scale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7317" y="3536975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 relationships are hard to scale globally.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0435" y="3130451"/>
            <a:ext cx="2648843" cy="11355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5846" y="3268712"/>
            <a:ext cx="23151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Tension 2: Consistency vs. Localization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35846" y="3730823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adaptation creates variation in experience and execution.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8964" y="3130451"/>
            <a:ext cx="2648843" cy="11355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4375" y="3268712"/>
            <a:ext cx="23151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Tension 3: Physical Trust vs. Digital Expectations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94375" y="3730823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needs digital enablement without digital dependency.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96193" y="4405536"/>
            <a:ext cx="8151614" cy="686842"/>
          </a:xfrm>
          <a:prstGeom prst="roundRect">
            <a:avLst>
              <a:gd name="adj" fmla="val 7585"/>
            </a:avLst>
          </a:prstGeom>
          <a:solidFill>
            <a:srgbClr val="DCDCD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67" y="4585320"/>
            <a:ext cx="155004" cy="1239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145" y="4548113"/>
            <a:ext cx="762468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 solves these tensions through three pillars: </a:t>
            </a: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Care Excellence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Care Infrastructure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Category-Led Expansion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308348"/>
            <a:ext cx="65089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Future Market Is Moving Toward BABÉ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1881932"/>
            <a:ext cx="815161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next three years are a strategic window: market trends are converging with BABÉ's strengths in trust, expertise, prevention, personalization, and professional guidance.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2418383"/>
            <a:ext cx="2634555" cy="1418704"/>
          </a:xfrm>
          <a:prstGeom prst="roundRect">
            <a:avLst>
              <a:gd name="adj" fmla="val 367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929" y="25471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249" y="2649364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929" y="30431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Skin Health Shift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929" y="33114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Skincare is increasingly viewed as healthcare.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4722" y="2418383"/>
            <a:ext cx="2634555" cy="1418704"/>
          </a:xfrm>
          <a:prstGeom prst="roundRect">
            <a:avLst>
              <a:gd name="adj" fmla="val 367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459" y="25471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778" y="2649364"/>
            <a:ext cx="167432" cy="1674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459" y="3043163"/>
            <a:ext cx="18785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Prevention Over Treatment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459" y="3311426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Preventive skincare is growing fast.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13252" y="2418383"/>
            <a:ext cx="2634555" cy="1418704"/>
          </a:xfrm>
          <a:prstGeom prst="roundRect">
            <a:avLst>
              <a:gd name="adj" fmla="val 367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41988" y="25471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4307" y="2649364"/>
            <a:ext cx="167432" cy="1674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1988" y="3043163"/>
            <a:ext cx="17720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Expert Guidance Demand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41988" y="33114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Consumers want dermatologists and pharmacists to help them decide.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6193" y="3961061"/>
            <a:ext cx="4013820" cy="1220242"/>
          </a:xfrm>
          <a:prstGeom prst="roundRect">
            <a:avLst>
              <a:gd name="adj" fmla="val 42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929" y="4089797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249" y="4192042"/>
            <a:ext cx="167432" cy="1674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4929" y="4585841"/>
            <a:ext cx="1785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Dermo-Cosmetics Growth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4929" y="4854104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category still offers substantial growth potential.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633987" y="3961061"/>
            <a:ext cx="4013820" cy="1220242"/>
          </a:xfrm>
          <a:prstGeom prst="roundRect">
            <a:avLst>
              <a:gd name="adj" fmla="val 42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62723" y="4089797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5043" y="4192042"/>
            <a:ext cx="167432" cy="1674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62723" y="458584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Trust Economy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62723" y="4854104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 in experts remains stronger than trust in advertising.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96193" y="5320829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B6D6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167" y="5500613"/>
            <a:ext cx="155004" cy="1239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145" y="5463406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Strategic Insight: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BABÉ already has trust. It now needs scale.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784547"/>
            <a:ext cx="8151614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Market Is Crowded — But the Most Valuable Space Is Empty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1745679"/>
            <a:ext cx="815161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Competitors optimize around products, brands, and distribution. No major player has built a scalable ecosystem around trust, care, and pharmacist enablement. BABÉ can own this white space.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2282130"/>
            <a:ext cx="8151614" cy="2897386"/>
          </a:xfrm>
          <a:prstGeom prst="roundRect">
            <a:avLst>
              <a:gd name="adj" fmla="val 17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078" y="2366070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Dimension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70027" y="2366070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Large Competitors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19713" y="2366070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078" y="2727647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70027" y="2727647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19713" y="2727647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5078" y="3089225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Marketing Budget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70027" y="3089225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19713" y="3089225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5078" y="3450803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Distribution Reach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70027" y="3450803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19713" y="3450803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5078" y="3812381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Professional Trust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70027" y="3812381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19713" y="3812381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078" y="4173959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Pharmacist Engagement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70027" y="4173959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19713" y="4173959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Very High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078" y="4535537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Philosophy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70027" y="4535537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19713" y="4535537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Very High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078" y="4897115"/>
            <a:ext cx="264943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Community Infrastructure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70027" y="4897115"/>
            <a:ext cx="305417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19713" y="4897115"/>
            <a:ext cx="305655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None Yet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6193" y="5443017"/>
            <a:ext cx="24557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Competitive Positioning Map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193" y="5760839"/>
            <a:ext cx="392452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key gap is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Scale + High Relationship Depth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Large competitors lead on scale; independent pharmacies lead on relationship depth. The top-right quadrant is empty.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38749" y="5319043"/>
            <a:ext cx="4103117" cy="1148804"/>
          </a:xfrm>
          <a:prstGeom prst="roundRect">
            <a:avLst>
              <a:gd name="adj" fmla="val 7774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62723" y="544301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White Space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62723" y="5760839"/>
            <a:ext cx="38551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winner may be the brand that owns the strongest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ecosystem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Products become part of the system. Trust becomes the moat.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923455"/>
            <a:ext cx="70543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 Already Owns the Assets Required to Win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497038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already has the strategic assets it needs. The opportunity is to organize and scale them.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283502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929" y="29637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Trust Capital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929" y="32320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30+ years of credibility with pharmacists, dermatologists, and consumers.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722" y="283502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459" y="2963763"/>
            <a:ext cx="18037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Pharmacy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459" y="32320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Operating in ~50 countries through pharmacy-focused channels.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3252" y="283502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1988" y="29637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Culture of Care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1988" y="323202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"Science with Emotion" aligns the organization globally.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93" y="3881661"/>
            <a:ext cx="4013820" cy="724198"/>
          </a:xfrm>
          <a:prstGeom prst="roundRect">
            <a:avLst>
              <a:gd name="adj" fmla="val 719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929" y="40103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Professional Advocacy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929" y="4278660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Healthcare professionals drive trust and adoption.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881661"/>
            <a:ext cx="4013820" cy="724198"/>
          </a:xfrm>
          <a:prstGeom prst="roundRect">
            <a:avLst>
              <a:gd name="adj" fmla="val 719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723" y="40103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Growth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723" y="4278660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170% growth over five years and €20M revenue.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93" y="4745385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7" y="4925169"/>
            <a:ext cx="155004" cy="1239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9145" y="4887962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Networks scale exponentially.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860277"/>
            <a:ext cx="8151614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 Is Not Growth — The Problem Is Fragmentation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821409"/>
            <a:ext cx="815161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has a trust engine, but not yet a trust operating system. Growth is constrained by execution variability, not demand: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shared care infrastructure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335786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702" y="338111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9220" y="3400499"/>
            <a:ext cx="235669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Inconsistent Customer Experience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9220" y="3668762"/>
            <a:ext cx="359524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Experience varies by pharmacist, threatening brand equity at scale.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9465" y="335786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5974" y="338111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52492" y="3400499"/>
            <a:ext cx="16531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Distributor Dependency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52492" y="3668762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distributors reduce visibility and control at the last mile.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93" y="411524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702" y="413850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9220" y="4157886"/>
            <a:ext cx="16447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Consumer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9220" y="4426148"/>
            <a:ext cx="359524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lacks consumer-level insight into purchase and journey.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9465" y="4115246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5974" y="413850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52492" y="4157886"/>
            <a:ext cx="182366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Knowledge Does Not Scale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2492" y="4426148"/>
            <a:ext cx="35953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Critical expertise remains trapped in people instead of systems.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93" y="4764137"/>
            <a:ext cx="8151614" cy="488379"/>
          </a:xfrm>
          <a:prstGeom prst="roundRect">
            <a:avLst>
              <a:gd name="adj" fmla="val 10668"/>
            </a:avLst>
          </a:prstGeom>
          <a:solidFill>
            <a:srgbClr val="DCDCD5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7" y="4943921"/>
            <a:ext cx="155004" cy="12397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9145" y="4906714"/>
            <a:ext cx="8081888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 can serve as the operating system for care.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93" y="2801094"/>
            <a:ext cx="860881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of 4 &gt; STRATEGY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45320" y="3382194"/>
            <a:ext cx="5453286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BABÉ Care Network</a:t>
            </a:r>
            <a:r>
              <a:rPr lang="en-US" sz="2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™</a:t>
            </a: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67593" y="3970065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implementation roadmap.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615157"/>
            <a:ext cx="47101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Four Pillars of Implementation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188741"/>
            <a:ext cx="8608814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BABÉ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requires coordinated execution across four critical tactical areas: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2531492"/>
            <a:ext cx="2634555" cy="1423467"/>
          </a:xfrm>
          <a:prstGeom prst="roundRect">
            <a:avLst>
              <a:gd name="adj" fmla="val 366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929" y="266022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249" y="2762473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929" y="3156272"/>
            <a:ext cx="164834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Pharmacist Enablement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929" y="3424535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Training, certification, and digital tools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4722" y="2531492"/>
            <a:ext cx="2634555" cy="1423467"/>
          </a:xfrm>
          <a:prstGeom prst="roundRect">
            <a:avLst>
              <a:gd name="adj" fmla="val 366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459" y="266022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778" y="2762473"/>
            <a:ext cx="167432" cy="1674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459" y="3156272"/>
            <a:ext cx="16035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Consumer Engagement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459" y="3424535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Passport, digital touchpoints, journey tracking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13252" y="2531492"/>
            <a:ext cx="2634555" cy="1423467"/>
          </a:xfrm>
          <a:prstGeom prst="roundRect">
            <a:avLst>
              <a:gd name="adj" fmla="val 366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41988" y="266022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4307" y="2762473"/>
            <a:ext cx="167432" cy="1674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1988" y="31562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&amp; Intelligence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41988" y="3424535"/>
            <a:ext cx="237708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Index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outcome measurement, AI optimization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6193" y="4078932"/>
            <a:ext cx="8151614" cy="1220242"/>
          </a:xfrm>
          <a:prstGeom prst="roundRect">
            <a:avLst>
              <a:gd name="adj" fmla="val 42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929" y="420766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5E5E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249" y="4309914"/>
            <a:ext cx="167432" cy="1674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4929" y="47037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Ecosystem Integration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4929" y="4971976"/>
            <a:ext cx="789414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Distributor coordination, regional hubs, cross-country continuity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96193" y="5438701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pillar must be built sequentially but executed in parallel across markets.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733648"/>
            <a:ext cx="8151614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 Care Network</a:t>
            </a:r>
            <a:r>
              <a:rPr lang="en-US" sz="2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™</a:t>
            </a: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= The Operating System for Global Skin Health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96193" y="1596330"/>
            <a:ext cx="8151614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Care Network</a:t>
            </a: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a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operating system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connects pharmacists, consumers, dermatologists, pediatricians, distributors, and BABÉ internal teams. If trust is BABÉ's asset, then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systems — not products — scale trust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2053456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93" y="6281291"/>
            <a:ext cx="860881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turns BABÉ into a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care operating system with embedded products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Key advantages: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Effects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Advantage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 Standardization</a:t>
            </a: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2F1B7-D318-D1B9-0E60-2EFC9DA29963}"/>
              </a:ext>
            </a:extLst>
          </p:cNvPr>
          <p:cNvSpPr txBox="1"/>
          <p:nvPr/>
        </p:nvSpPr>
        <p:spPr>
          <a:xfrm>
            <a:off x="6556540" y="6621845"/>
            <a:ext cx="2599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Gelasio" pitchFamily="2" charset="0"/>
                <a:cs typeface="Gelasio" pitchFamily="2" charset="0"/>
              </a:rPr>
              <a:t>#The image generated via AI from my concept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679451"/>
            <a:ext cx="71391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Ecosystem Integration — Scaling Across Markets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253035"/>
            <a:ext cx="8608814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must work seamlessly across 50+ countries with different distributors, regulations, and market dynamics.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93" y="2595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93" y="2792239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7" name="Text 5"/>
          <p:cNvSpPr/>
          <p:nvPr/>
        </p:nvSpPr>
        <p:spPr>
          <a:xfrm>
            <a:off x="496193" y="2882801"/>
            <a:ext cx="16384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Distributor Enablement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93" y="3151063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 and incentives for local partners to support the ecosystem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54722" y="2595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722" y="2792239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1" name="Text 9"/>
          <p:cNvSpPr/>
          <p:nvPr/>
        </p:nvSpPr>
        <p:spPr>
          <a:xfrm>
            <a:off x="3254722" y="288280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Regional Care Hubs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4722" y="3151063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teams managing pharmacist relationships, training, and market adaptation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13252" y="2595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2792239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5" name="Text 13"/>
          <p:cNvSpPr/>
          <p:nvPr/>
        </p:nvSpPr>
        <p:spPr>
          <a:xfrm>
            <a:off x="6013252" y="2882801"/>
            <a:ext cx="1762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Cross-Country Continuity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3252" y="3151063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Unified Care Passport allowing consumers to continue care across borders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93" y="37649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93" y="3961433"/>
            <a:ext cx="4013820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93" y="4051995"/>
            <a:ext cx="16640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Localization Framework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93" y="4320257"/>
            <a:ext cx="40138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Standardized protocols with flexibility for regional needs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3987" y="37649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87" y="3961433"/>
            <a:ext cx="4013820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3" name="Text 21"/>
          <p:cNvSpPr/>
          <p:nvPr/>
        </p:nvSpPr>
        <p:spPr>
          <a:xfrm>
            <a:off x="4633987" y="4051995"/>
            <a:ext cx="18158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Compliance &amp; Governance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3987" y="4320257"/>
            <a:ext cx="40138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oversight ensuring consistent quality and regulatory adherence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6193" y="4949726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DCDCD5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7" y="5129510"/>
            <a:ext cx="155004" cy="12397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99145" y="5092303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 Metric: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Full ecosystem deployment in 15+ countries by Year 3; &lt;5% variance in care quality across markets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422722"/>
            <a:ext cx="65610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&amp; Intelligence — The Competitive Moat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1996306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transforms BABÉ from a product company into a care intelligence platform. Outcome data drives better recommendations and innovation.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2334295"/>
            <a:ext cx="1944886" cy="150755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4222" y="2445916"/>
            <a:ext cx="148828" cy="148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454" y="2830413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 Index</a:t>
            </a: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4454" y="3108201"/>
            <a:ext cx="16683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Proprietary metric measuring skin health improvement across conditions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5053" y="2334295"/>
            <a:ext cx="1944960" cy="150755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3082" y="2445916"/>
            <a:ext cx="148828" cy="1488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03314" y="2830413"/>
            <a:ext cx="160875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Outcome Measurement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703314" y="3098676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Systematic tracking of skin condition improvement, adherence, and satisfaction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2334295"/>
            <a:ext cx="1944886" cy="150755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32016" y="2445916"/>
            <a:ext cx="148828" cy="1488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72248" y="2830413"/>
            <a:ext cx="163398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AI-Driven Optimization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4772248" y="3098676"/>
            <a:ext cx="16683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Machine learning to improve recommendations and predict outcomes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847" y="2334295"/>
            <a:ext cx="1944960" cy="150755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00876" y="2445916"/>
            <a:ext cx="148828" cy="1488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841108" y="28304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6841108" y="3098676"/>
            <a:ext cx="166843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 and pharmacist data feeds product innovation and market expansion</a:t>
            </a:r>
            <a:endParaRPr lang="en-US" sz="9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93" y="3965823"/>
            <a:ext cx="8151614" cy="110110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97586" y="4077444"/>
            <a:ext cx="148828" cy="1488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34454" y="4461942"/>
            <a:ext cx="17763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Privacy-First Architecture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634454" y="4730204"/>
            <a:ext cx="787509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GDPR-compliant data governance ensuring consumer trust</a:t>
            </a:r>
            <a:endParaRPr lang="en-US" sz="950" dirty="0"/>
          </a:p>
        </p:txBody>
      </p:sp>
      <p:sp>
        <p:nvSpPr>
          <p:cNvPr id="25" name="Shape 13"/>
          <p:cNvSpPr/>
          <p:nvPr/>
        </p:nvSpPr>
        <p:spPr>
          <a:xfrm>
            <a:off x="496193" y="5206454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B6FCB8"/>
          </a:solidFill>
          <a:ln/>
        </p:spPr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167" y="5386239"/>
            <a:ext cx="155004" cy="123974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99145" y="5349032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 Metric: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1M+ outcome data points collected by Year 3; AI model accuracy &gt;85%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810741"/>
            <a:ext cx="694260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Consumer Engagement — Building the Care Journey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96193" y="1310283"/>
            <a:ext cx="860881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Consumers need a unified way to track their skin health, receive personalized guidance, and stay engaged with BABÉ across touchpoints.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93" y="1630635"/>
            <a:ext cx="2131814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Tactics: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1990576"/>
            <a:ext cx="8151614" cy="66980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626" y="2241724"/>
            <a:ext cx="167432" cy="167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7498" y="2116485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 Passport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57498" y="2351112"/>
            <a:ext cx="7464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identity capturing skin type, conditions, routines, and outcomes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2760836"/>
            <a:ext cx="8151614" cy="66980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626" y="3011984"/>
            <a:ext cx="167432" cy="1674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7498" y="2886745"/>
            <a:ext cx="1505843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Pharmacy Consultations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057498" y="3121372"/>
            <a:ext cx="7464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QR-based check-ins and follow-ups at point of purchase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3531096"/>
            <a:ext cx="8151614" cy="66980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626" y="3782244"/>
            <a:ext cx="167432" cy="1674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7498" y="3657005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Digital Skin Analysis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1057498" y="3891632"/>
            <a:ext cx="7464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 app for self-assessment and routine tracking</a:t>
            </a:r>
            <a:endParaRPr lang="en-US" sz="8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4301356"/>
            <a:ext cx="8151614" cy="669801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626" y="4552504"/>
            <a:ext cx="167432" cy="16743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57498" y="4427265"/>
            <a:ext cx="1401514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 Journey Tracking</a:t>
            </a:r>
            <a:endParaRPr lang="en-US" sz="1050" dirty="0"/>
          </a:p>
        </p:txBody>
      </p:sp>
      <p:sp>
        <p:nvSpPr>
          <p:cNvPr id="21" name="Text 11"/>
          <p:cNvSpPr/>
          <p:nvPr/>
        </p:nvSpPr>
        <p:spPr>
          <a:xfrm>
            <a:off x="1057498" y="4661892"/>
            <a:ext cx="7464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Personalized recommendations based on skin improvement data</a:t>
            </a:r>
            <a:endParaRPr lang="en-US" sz="8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5071616"/>
            <a:ext cx="8151614" cy="669801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626" y="5322763"/>
            <a:ext cx="167432" cy="16743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057498" y="5197525"/>
            <a:ext cx="13954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Community Building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1057498" y="5432152"/>
            <a:ext cx="7464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 support, expert content, and condition-specific guidance</a:t>
            </a:r>
            <a:endParaRPr lang="en-US" sz="850" dirty="0"/>
          </a:p>
        </p:txBody>
      </p:sp>
      <p:sp>
        <p:nvSpPr>
          <p:cNvPr id="26" name="Shape 14"/>
          <p:cNvSpPr/>
          <p:nvPr/>
        </p:nvSpPr>
        <p:spPr>
          <a:xfrm>
            <a:off x="496193" y="5854452"/>
            <a:ext cx="8151614" cy="406301"/>
          </a:xfrm>
          <a:prstGeom prst="roundRect">
            <a:avLst>
              <a:gd name="adj" fmla="val 11541"/>
            </a:avLst>
          </a:prstGeom>
          <a:solidFill>
            <a:srgbClr val="B6D6FC"/>
          </a:solidFill>
          <a:ln/>
        </p:spPr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7814" y="6010573"/>
            <a:ext cx="139526" cy="111621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858962" y="5972770"/>
            <a:ext cx="813442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 Metric:</a:t>
            </a:r>
            <a:r>
              <a:rPr lang="en-US" sz="8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500K+ active Care Passport users by end of Year 2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894210"/>
            <a:ext cx="751983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Pharmacist Enablement — The Foundation of Trust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2467794"/>
            <a:ext cx="815161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Pharmacists are BABÉ's primary distribution channel and trust multiplier. Enablement means giving them the tools, knowledge, and incentives to become care advisors.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3019723"/>
            <a:ext cx="123974" cy="1239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93" y="3200698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7" name="Text 4"/>
          <p:cNvSpPr/>
          <p:nvPr/>
        </p:nvSpPr>
        <p:spPr>
          <a:xfrm>
            <a:off x="496193" y="32912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 Care Academy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93" y="3559522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Standardized certification program covering skin conditions, product guidance, and care protocols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4722" y="3019723"/>
            <a:ext cx="123974" cy="1239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54722" y="3200698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1" name="Text 7"/>
          <p:cNvSpPr/>
          <p:nvPr/>
        </p:nvSpPr>
        <p:spPr>
          <a:xfrm>
            <a:off x="3254722" y="32912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Diagnostic Protocols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54722" y="3559522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Unified global frameworks for skin assessment and recommendation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3252" y="3019723"/>
            <a:ext cx="123974" cy="12397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13252" y="3200698"/>
            <a:ext cx="2634555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5" name="Text 10"/>
          <p:cNvSpPr/>
          <p:nvPr/>
        </p:nvSpPr>
        <p:spPr>
          <a:xfrm>
            <a:off x="6013252" y="32912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Digital Tools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13252" y="3559522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 app for consultations, product recommendations, and patient follow-up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93" y="4188916"/>
            <a:ext cx="123974" cy="12397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96193" y="4369891"/>
            <a:ext cx="4013820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9" name="Text 13"/>
          <p:cNvSpPr/>
          <p:nvPr/>
        </p:nvSpPr>
        <p:spPr>
          <a:xfrm>
            <a:off x="496193" y="44604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Incentive Alignment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96193" y="4728716"/>
            <a:ext cx="40138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Commission structures tied to care outcomes, not just product sales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3987" y="4188916"/>
            <a:ext cx="123974" cy="12397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633987" y="4369891"/>
            <a:ext cx="4013820" cy="14288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3" name="Text 16"/>
          <p:cNvSpPr/>
          <p:nvPr/>
        </p:nvSpPr>
        <p:spPr>
          <a:xfrm>
            <a:off x="4633987" y="44604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Regional Support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633987" y="4728716"/>
            <a:ext cx="40138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Dedicated care coaches in each market to drive adoption and quality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96193" y="5159722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 Metric: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80%+ pharmacist certification rate in priority markets by Year 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823020"/>
            <a:ext cx="829806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3-Year Path to Becoming a Global Care Operating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1396603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BABÉ's transformation follows a sequenced build: product company → care platform → global care operating system.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93" y="3705374"/>
            <a:ext cx="8151614" cy="14288"/>
          </a:xfrm>
          <a:prstGeom prst="roundRect">
            <a:avLst>
              <a:gd name="adj" fmla="val 364638"/>
            </a:avLst>
          </a:prstGeom>
          <a:solidFill>
            <a:srgbClr val="CECEC9"/>
          </a:solidFill>
          <a:ln/>
        </p:spPr>
      </p:sp>
      <p:sp>
        <p:nvSpPr>
          <p:cNvPr id="6" name="Shape 4"/>
          <p:cNvSpPr/>
          <p:nvPr/>
        </p:nvSpPr>
        <p:spPr>
          <a:xfrm>
            <a:off x="2488183" y="3333304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CECEC9"/>
          </a:solidFill>
          <a:ln/>
        </p:spPr>
      </p:sp>
      <p:sp>
        <p:nvSpPr>
          <p:cNvPr id="7" name="Shape 5"/>
          <p:cNvSpPr/>
          <p:nvPr/>
        </p:nvSpPr>
        <p:spPr>
          <a:xfrm>
            <a:off x="2355800" y="356584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2309" y="358910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720007" y="17345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 1 — 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0167" y="2002854"/>
            <a:ext cx="3750320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&amp; Pilot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0167" y="2280493"/>
            <a:ext cx="3750320" cy="928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Launch Care Passport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BABÉ Care Academy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Care Index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framework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 2–3 model markets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64782" y="3705374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CECEC9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2399" y="356584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8908" y="358910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96680" y="42014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 2 — Expansion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6766" y="4469755"/>
            <a:ext cx="37503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Multi-Country Rollout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6766" y="4742631"/>
            <a:ext cx="375039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Care Passport to top countries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 pharmacist certification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Activate regional Care Hubs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Introduce </a:t>
            </a:r>
            <a:r>
              <a:rPr lang="en-US" sz="9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Care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Journey tracking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41455" y="3333304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CECEC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9072" y="356584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5581" y="358910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791944" y="1734592"/>
            <a:ext cx="171330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 3 — Platformization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439" y="2002854"/>
            <a:ext cx="37503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Ecosystem &amp; AI Care Intelligence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439" y="2275731"/>
            <a:ext cx="3750394" cy="9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global deployment of Care Network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AI-driven Care Index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optimization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Cross-country journey continuity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feedback loop for innovation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6193" y="5806157"/>
            <a:ext cx="8151614" cy="483617"/>
          </a:xfrm>
          <a:prstGeom prst="roundRect">
            <a:avLst>
              <a:gd name="adj" fmla="val 10773"/>
            </a:avLst>
          </a:prstGeom>
          <a:solidFill>
            <a:srgbClr val="B6D6FC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7" y="5985942"/>
            <a:ext cx="155004" cy="12397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99145" y="5948735"/>
            <a:ext cx="80818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Principle: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Standardize → Validate → Scale → Dominate.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467" y="0"/>
            <a:ext cx="3429000" cy="685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2957364"/>
            <a:ext cx="51799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of 4 &gt; IMPACT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324013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3813721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strategic choice and business case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1411932"/>
            <a:ext cx="429391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Strategic Risks &amp; Mitigation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93" y="1985516"/>
            <a:ext cx="860881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Transformation at this scale carries execution risks. BABÉ must address them proactively.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2323505"/>
            <a:ext cx="2634555" cy="189495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9057" y="2435126"/>
            <a:ext cx="148828" cy="148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454" y="281962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Pharmacist Adoption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4454" y="3087886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Pharmacists resist change or lack time for training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Mitigation: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Outcome-based incentives, simplified tools, regional support teams           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722" y="2323505"/>
            <a:ext cx="2634555" cy="189495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7586" y="2435126"/>
            <a:ext cx="148828" cy="1488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92984" y="2819623"/>
            <a:ext cx="16115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Consumer Data Privacy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392984" y="3087886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Data breaches or regulatory violations damage trust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Mitigation: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GDPR-first architecture, third-party security audits, transparent governance           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3252" y="2323505"/>
            <a:ext cx="2634555" cy="189495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56115" y="2435126"/>
            <a:ext cx="148828" cy="1488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51513" y="2819623"/>
            <a:ext cx="15563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Market Fragmentation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6151513" y="3087886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Regional variations undermine global consistency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Mitigation: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Standardized protocols with localization flexibility, centralized governance           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93" y="4342433"/>
            <a:ext cx="4013820" cy="1498029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8652" y="4454054"/>
            <a:ext cx="148828" cy="1488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4454" y="483855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Competitive Response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634454" y="5106814"/>
            <a:ext cx="373729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Large competitors launch similar ecosystems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Mitigation: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Speed to market, pharmacist lock-in, data advantage, brand trust           </a:t>
            </a:r>
            <a:endParaRPr lang="en-US" sz="9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3987" y="4342433"/>
            <a:ext cx="4013820" cy="1498029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66446" y="4454054"/>
            <a:ext cx="148828" cy="1488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772248" y="483855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Execution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4772248" y="5106814"/>
            <a:ext cx="373729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Platform delays or poor user experience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   </a:t>
            </a: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Mitigation: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Agile development, MVP approach, continuous user testing           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724867"/>
            <a:ext cx="5384378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Competitive Moat — Why BABÉ Wins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96193" y="1260946"/>
            <a:ext cx="8608814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BABÉ Care Network</a:t>
            </a:r>
            <a:r>
              <a:rPr lang="en-US" sz="9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creates defensible advantages that competitors cannot easily replicate.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1575495"/>
            <a:ext cx="8151614" cy="114538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65" y="2059781"/>
            <a:ext cx="176733" cy="1767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3738" y="1707579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Effects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93738" y="1958876"/>
            <a:ext cx="7421984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new pharmacist strengthens the ecosystem for consumers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consumer data point improves recommendations for all users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Ecosystem becomes more valuable as it scales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2832795"/>
            <a:ext cx="8151614" cy="114538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65" y="3317081"/>
            <a:ext cx="176733" cy="1767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3738" y="2964879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Advantage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093738" y="3216176"/>
            <a:ext cx="7421984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1M+ outcome data points by Year 3 create proprietary insights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models trained on real-world skin health outcomes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Competitors lack access to this outcome-driven data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4090095"/>
            <a:ext cx="8151614" cy="114538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65" y="4574381"/>
            <a:ext cx="176733" cy="17673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3738" y="4222179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Trust Lock-in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1093738" y="4473476"/>
            <a:ext cx="7421984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Pharmacists invested in BABÉ training and certification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Consumers with Care Passport history stay engaged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Switching costs increase with ecosystem depth</a:t>
            </a:r>
            <a:endParaRPr lang="en-US" sz="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93" y="5347395"/>
            <a:ext cx="8151614" cy="114538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365" y="5831681"/>
            <a:ext cx="176733" cy="17673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93738" y="5479479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Regulatory Moat</a:t>
            </a:r>
            <a:endParaRPr lang="en-US" sz="1150" dirty="0"/>
          </a:p>
        </p:txBody>
      </p:sp>
      <p:sp>
        <p:nvSpPr>
          <p:cNvPr id="20" name="Text 10"/>
          <p:cNvSpPr/>
          <p:nvPr/>
        </p:nvSpPr>
        <p:spPr>
          <a:xfrm>
            <a:off x="1093738" y="5730776"/>
            <a:ext cx="7421984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First-mover advantage in care ecosystem standards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Potential to set industry benchmarks for outcome measurement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Regulatory relationships with health authorities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93" y="735509"/>
            <a:ext cx="4401369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Financial Impact — The Business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193" y="1130871"/>
            <a:ext cx="8608814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BABÉ Care Network</a:t>
            </a:r>
            <a:r>
              <a:rPr lang="en-US" sz="7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transformation unlocks significant revenue and margin expansion through ecosystem monetization and operational efficiency.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96193" y="1370484"/>
            <a:ext cx="18526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Growth: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1649462"/>
            <a:ext cx="6113711" cy="3424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93" y="5152281"/>
            <a:ext cx="8608814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projected 3-Year CAGR is 58%, significantly higher than the historical 34%, demonstrating accelerated growth with the Care Network</a:t>
            </a:r>
            <a:r>
              <a:rPr lang="en-US" sz="7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96193" y="5391894"/>
            <a:ext cx="1852687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Margin Expansion: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93" y="5670872"/>
            <a:ext cx="8151614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shift from a product-centric to an ecosystem-centric model improves gross margins by 8-12%. Reduced distributor dependency increases direct margin capture, and data-driven recommendations reduce product waste and returns.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96193" y="6009754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056" y="6044580"/>
            <a:ext cx="139526" cy="1395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5246" y="604167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Investment Required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75246" y="6228829"/>
            <a:ext cx="375314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€8-12M over 3 years (technology, training, regional hubs)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615607" y="6009754"/>
            <a:ext cx="209327" cy="209327"/>
          </a:xfrm>
          <a:prstGeom prst="roundRect">
            <a:avLst>
              <a:gd name="adj" fmla="val 1866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0470" y="6044580"/>
            <a:ext cx="139526" cy="1395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4659" y="604167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894659" y="6228829"/>
            <a:ext cx="375314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3.5x by Year 3; payback period 18 months</a:t>
            </a:r>
            <a:endParaRPr lang="en-US" sz="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F05EC7-9125-0509-D213-FD30821DA0D2}"/>
              </a:ext>
            </a:extLst>
          </p:cNvPr>
          <p:cNvSpPr txBox="1"/>
          <p:nvPr/>
        </p:nvSpPr>
        <p:spPr>
          <a:xfrm>
            <a:off x="6556540" y="6621845"/>
            <a:ext cx="2599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Gelasio" pitchFamily="2" charset="0"/>
                <a:cs typeface="Gelasio" pitchFamily="2" charset="0"/>
              </a:rPr>
              <a:t>#The Chart is imported from Canva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9891" y="755972"/>
            <a:ext cx="8024217" cy="763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Is Not a Growth Decision. It Is a Category-Defining Decision.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9891" y="1699245"/>
            <a:ext cx="84814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is at a strategic inflection point: become a global care operating system, or remain a conventional dermocosmetics brand.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59891" y="2028304"/>
            <a:ext cx="8024217" cy="1191592"/>
          </a:xfrm>
          <a:prstGeom prst="roundRect">
            <a:avLst>
              <a:gd name="adj" fmla="val 430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654" y="2033067"/>
            <a:ext cx="4007346" cy="1182067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7" name="Text 5"/>
          <p:cNvSpPr/>
          <p:nvPr/>
        </p:nvSpPr>
        <p:spPr>
          <a:xfrm>
            <a:off x="686693" y="2155106"/>
            <a:ext cx="155808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Traditional Brand Path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6693" y="2417936"/>
            <a:ext cx="3763268" cy="66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Products &amp; marketing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Price-driven competition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Linear growth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2033067"/>
            <a:ext cx="4007346" cy="1182067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33067"/>
            <a:ext cx="14288" cy="1182067"/>
          </a:xfrm>
          <a:prstGeom prst="roundRect">
            <a:avLst>
              <a:gd name="adj" fmla="val 358941"/>
            </a:avLst>
          </a:prstGeom>
          <a:solidFill>
            <a:srgbClr val="CECEC9"/>
          </a:solidFill>
          <a:ln/>
        </p:spPr>
      </p:sp>
      <p:sp>
        <p:nvSpPr>
          <p:cNvPr id="11" name="Text 9"/>
          <p:cNvSpPr/>
          <p:nvPr/>
        </p:nvSpPr>
        <p:spPr>
          <a:xfrm>
            <a:off x="4694039" y="2155106"/>
            <a:ext cx="1906637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BABÉ Care Network</a:t>
            </a: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™</a:t>
            </a: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Path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4039" y="2427461"/>
            <a:ext cx="3763268" cy="66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Care system &amp; trust infrastructure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Pharmacists + consumers + data</a:t>
            </a:r>
            <a:endParaRPr lang="en-US" sz="9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ecosystem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9891" y="3416126"/>
            <a:ext cx="3936950" cy="402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€20M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765176" y="39702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891" y="4233044"/>
            <a:ext cx="39369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 for transformation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47084" y="3416126"/>
            <a:ext cx="3937025" cy="402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170%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5852443" y="39702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5-Year Growth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7084" y="4233044"/>
            <a:ext cx="39370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Proven demand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9891" y="4728270"/>
            <a:ext cx="3936950" cy="402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~50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765176" y="5282357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9891" y="5545187"/>
            <a:ext cx="39369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network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47084" y="4728270"/>
            <a:ext cx="3937025" cy="402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2–2.5x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5852443" y="5282357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Potential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7084" y="5545187"/>
            <a:ext cx="39370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Within 3–5 years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891" y="5874246"/>
            <a:ext cx="8024217" cy="475878"/>
          </a:xfrm>
          <a:prstGeom prst="roundRect">
            <a:avLst>
              <a:gd name="adj" fmla="val 10777"/>
            </a:avLst>
          </a:prstGeom>
          <a:solidFill>
            <a:srgbClr val="B6FCB8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30" y="6048598"/>
            <a:ext cx="152623" cy="12203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56593" y="6012879"/>
            <a:ext cx="796267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Final Recommendation:</a:t>
            </a:r>
            <a:r>
              <a:rPr lang="en-US" sz="9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Approve the BABÉ Care Network™ Transformation Program.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594567"/>
            <a:ext cx="3102140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CLOSING RECOMMENDATION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96193" y="853529"/>
            <a:ext cx="3516957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Time to Act Is Now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96193" y="1389608"/>
            <a:ext cx="8151614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 stands at a strategic inflection point. The company has already achieved what most brands never reach — strong pharmacy trust, international presence, and proven growth. But the next phase requires a fundamental shift in how BABÉ operates.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93" y="1925241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Now?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93" y="2342071"/>
            <a:ext cx="58862" cy="58862"/>
          </a:xfrm>
          <a:prstGeom prst="roundRect">
            <a:avLst>
              <a:gd name="adj" fmla="val 485458"/>
            </a:avLst>
          </a:prstGeom>
          <a:solidFill>
            <a:srgbClr val="E5E5E0"/>
          </a:solidFill>
          <a:ln/>
        </p:spPr>
      </p:sp>
      <p:sp>
        <p:nvSpPr>
          <p:cNvPr id="7" name="Text 5"/>
          <p:cNvSpPr/>
          <p:nvPr/>
        </p:nvSpPr>
        <p:spPr>
          <a:xfrm>
            <a:off x="666973" y="2277294"/>
            <a:ext cx="3835078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 trends are converging with BABÉ's strengths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41949" y="2342071"/>
            <a:ext cx="58862" cy="58862"/>
          </a:xfrm>
          <a:prstGeom prst="roundRect">
            <a:avLst>
              <a:gd name="adj" fmla="val 485458"/>
            </a:avLst>
          </a:prstGeom>
          <a:solidFill>
            <a:srgbClr val="E5E5E0"/>
          </a:solidFill>
          <a:ln/>
        </p:spPr>
      </p:sp>
      <p:sp>
        <p:nvSpPr>
          <p:cNvPr id="9" name="Text 7"/>
          <p:cNvSpPr/>
          <p:nvPr/>
        </p:nvSpPr>
        <p:spPr>
          <a:xfrm>
            <a:off x="4812729" y="2277294"/>
            <a:ext cx="3835078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Competitors haven't yet built care ecosystems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93" y="2749786"/>
            <a:ext cx="58862" cy="58862"/>
          </a:xfrm>
          <a:prstGeom prst="roundRect">
            <a:avLst>
              <a:gd name="adj" fmla="val 485458"/>
            </a:avLst>
          </a:prstGeom>
          <a:solidFill>
            <a:srgbClr val="E5E5E0"/>
          </a:solidFill>
          <a:ln/>
        </p:spPr>
      </p:sp>
      <p:sp>
        <p:nvSpPr>
          <p:cNvPr id="11" name="Text 9"/>
          <p:cNvSpPr/>
          <p:nvPr/>
        </p:nvSpPr>
        <p:spPr>
          <a:xfrm>
            <a:off x="666973" y="2685008"/>
            <a:ext cx="3835078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BABÉ's trust capital is at peak value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1949" y="2749786"/>
            <a:ext cx="58862" cy="58862"/>
          </a:xfrm>
          <a:prstGeom prst="roundRect">
            <a:avLst>
              <a:gd name="adj" fmla="val 485458"/>
            </a:avLst>
          </a:prstGeom>
          <a:solidFill>
            <a:srgbClr val="E5E5E0"/>
          </a:solidFill>
          <a:ln/>
        </p:spPr>
      </p:sp>
      <p:sp>
        <p:nvSpPr>
          <p:cNvPr id="13" name="Text 11"/>
          <p:cNvSpPr/>
          <p:nvPr/>
        </p:nvSpPr>
        <p:spPr>
          <a:xfrm>
            <a:off x="4812729" y="2685008"/>
            <a:ext cx="3835078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Technology and data capabilities are now mature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193" y="3036763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What's at Stake?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6193" y="3500735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If BABÉ acts: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193" y="3796829"/>
            <a:ext cx="3932039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Become the global leader in care-based dermocosmetics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Unlock 2-2.5x revenue growth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defensible competitive advantages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0530" y="3500735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If BABÉ waits: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0530" y="3796829"/>
            <a:ext cx="3932039" cy="62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commoditization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Lose first-mover advantage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Watch competitors build similar ecosystems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6193" y="4591794"/>
            <a:ext cx="8151614" cy="493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Path Forward: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Year 1 focuses on foundation-building in 2-3 model markets. Year 2 expands to top markets. Year 3 achieves global scale with AI-driven optimization.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6193" y="5253335"/>
            <a:ext cx="2031057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Final Recommendation: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6193" y="5605388"/>
            <a:ext cx="8151614" cy="448940"/>
          </a:xfrm>
          <a:prstGeom prst="roundRect">
            <a:avLst>
              <a:gd name="adj" fmla="val 11025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90" y="5773266"/>
            <a:ext cx="147265" cy="11779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9053" y="5735538"/>
            <a:ext cx="8108156" cy="18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the BABÉ Care Network</a:t>
            </a:r>
            <a:r>
              <a:rPr lang="en-US" sz="9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™</a:t>
            </a:r>
            <a:r>
              <a:rPr lang="en-US" sz="9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Transformation Program.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6193" y="6180237"/>
            <a:ext cx="8608814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not a growth initiative. It is a category-defining decision that will determine BABÉ's future as a company.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791259-CE8B-497A-40B3-4BD29B5769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3" y="0"/>
            <a:ext cx="4956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95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C4B92-2BCD-38D7-68D3-8C6FF1CF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10" y="0"/>
            <a:ext cx="5250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4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8D0D21-FDE1-786E-B585-BA1FDBB6B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724040"/>
              </p:ext>
            </p:extLst>
          </p:nvPr>
        </p:nvGraphicFramePr>
        <p:xfrm>
          <a:off x="0" y="843084"/>
          <a:ext cx="9144000" cy="5334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305">
                  <a:extLst>
                    <a:ext uri="{9D8B030D-6E8A-4147-A177-3AD203B41FA5}">
                      <a16:colId xmlns:a16="http://schemas.microsoft.com/office/drawing/2014/main" val="274386021"/>
                    </a:ext>
                  </a:extLst>
                </a:gridCol>
                <a:gridCol w="723914">
                  <a:extLst>
                    <a:ext uri="{9D8B030D-6E8A-4147-A177-3AD203B41FA5}">
                      <a16:colId xmlns:a16="http://schemas.microsoft.com/office/drawing/2014/main" val="142294806"/>
                    </a:ext>
                  </a:extLst>
                </a:gridCol>
                <a:gridCol w="593086">
                  <a:extLst>
                    <a:ext uri="{9D8B030D-6E8A-4147-A177-3AD203B41FA5}">
                      <a16:colId xmlns:a16="http://schemas.microsoft.com/office/drawing/2014/main" val="847277319"/>
                    </a:ext>
                  </a:extLst>
                </a:gridCol>
                <a:gridCol w="846021">
                  <a:extLst>
                    <a:ext uri="{9D8B030D-6E8A-4147-A177-3AD203B41FA5}">
                      <a16:colId xmlns:a16="http://schemas.microsoft.com/office/drawing/2014/main" val="3812563212"/>
                    </a:ext>
                  </a:extLst>
                </a:gridCol>
                <a:gridCol w="732637">
                  <a:extLst>
                    <a:ext uri="{9D8B030D-6E8A-4147-A177-3AD203B41FA5}">
                      <a16:colId xmlns:a16="http://schemas.microsoft.com/office/drawing/2014/main" val="2963795771"/>
                    </a:ext>
                  </a:extLst>
                </a:gridCol>
                <a:gridCol w="802412">
                  <a:extLst>
                    <a:ext uri="{9D8B030D-6E8A-4147-A177-3AD203B41FA5}">
                      <a16:colId xmlns:a16="http://schemas.microsoft.com/office/drawing/2014/main" val="126036651"/>
                    </a:ext>
                  </a:extLst>
                </a:gridCol>
                <a:gridCol w="837299">
                  <a:extLst>
                    <a:ext uri="{9D8B030D-6E8A-4147-A177-3AD203B41FA5}">
                      <a16:colId xmlns:a16="http://schemas.microsoft.com/office/drawing/2014/main" val="3905249905"/>
                    </a:ext>
                  </a:extLst>
                </a:gridCol>
                <a:gridCol w="627974">
                  <a:extLst>
                    <a:ext uri="{9D8B030D-6E8A-4147-A177-3AD203B41FA5}">
                      <a16:colId xmlns:a16="http://schemas.microsoft.com/office/drawing/2014/main" val="620428494"/>
                    </a:ext>
                  </a:extLst>
                </a:gridCol>
                <a:gridCol w="976849">
                  <a:extLst>
                    <a:ext uri="{9D8B030D-6E8A-4147-A177-3AD203B41FA5}">
                      <a16:colId xmlns:a16="http://schemas.microsoft.com/office/drawing/2014/main" val="2627251012"/>
                    </a:ext>
                  </a:extLst>
                </a:gridCol>
                <a:gridCol w="1988584">
                  <a:extLst>
                    <a:ext uri="{9D8B030D-6E8A-4147-A177-3AD203B41FA5}">
                      <a16:colId xmlns:a16="http://schemas.microsoft.com/office/drawing/2014/main" val="938464384"/>
                    </a:ext>
                  </a:extLst>
                </a:gridCol>
                <a:gridCol w="334919">
                  <a:extLst>
                    <a:ext uri="{9D8B030D-6E8A-4147-A177-3AD203B41FA5}">
                      <a16:colId xmlns:a16="http://schemas.microsoft.com/office/drawing/2014/main" val="2266143801"/>
                    </a:ext>
                  </a:extLst>
                </a:gridCol>
              </a:tblGrid>
              <a:tr h="2820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EBIDTA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QS/</a:t>
                      </a:r>
                      <a:r>
                        <a:rPr lang="en-US" sz="600" u="none" strike="noStrike" dirty="0" err="1">
                          <a:effectLst/>
                        </a:rPr>
                        <a:t>avCpQ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Oprev/avPwi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operRev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avPwith inf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inflation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High-End Serums: $49.00 (e.g., Eyelash, Brow, and Hair serums)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44" marR="4244" marT="42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793468"/>
                  </a:ext>
                </a:extLst>
              </a:tr>
              <a:tr h="2826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1 174 137,00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110 747,88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506 671,57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16 962 452,00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   33,48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6,28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Mid-Range Treatments: $22.00 – $39.00 (e.g., Eyelash Conditioners, Face Serums, and Shampoos)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44" marR="4244" marT="42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188027"/>
                  </a:ext>
                </a:extLst>
              </a:tr>
              <a:tr h="2826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511 782,00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88 766,15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406 105,16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13 967 926,00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   34,39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9,19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Budget Cosmetics: $15.00 (e.g., Mascaras, Brow Fillers, and Lip Masks)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44" marR="4244" marT="424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55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793 307,00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72 468,10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331 541,55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10 746 422,00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   32,41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2,9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41162711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1 238 236,00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71 028,94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324 957,38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10 311 905,00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          31,73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0,74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600" u="none" strike="noStrike">
                          <a:effectLst/>
                        </a:rPr>
                        <a:t>avP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44" marR="4244" marT="424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31,5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254335082"/>
                  </a:ext>
                </a:extLst>
              </a:tr>
              <a:tr h="307719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Er&lt;0,1(10%)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u="none" strike="noStrike" dirty="0" err="1">
                          <a:effectLst/>
                        </a:rPr>
                        <a:t>avQofCustomers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u="none" strike="noStrike" dirty="0">
                          <a:effectLst/>
                        </a:rPr>
                        <a:t>the </a:t>
                      </a:r>
                      <a:r>
                        <a:rPr lang="en-US" sz="600" u="none" strike="noStrike" dirty="0" err="1">
                          <a:effectLst/>
                        </a:rPr>
                        <a:t>Qof</a:t>
                      </a:r>
                      <a:r>
                        <a:rPr lang="en-US" sz="600" u="none" strike="noStrike" dirty="0">
                          <a:effectLst/>
                        </a:rPr>
                        <a:t> sell's In Y (QS)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2873640219"/>
                  </a:ext>
                </a:extLst>
              </a:tr>
              <a:tr h="756478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600" u="none" strike="noStrike">
                          <a:effectLst/>
                        </a:rPr>
                        <a:t>In the e-commerce, beauty, and cosmetics industry, the average customer purchases from a brand between 2.5 and 2.8 times per year. If the customer joins a brand's loyalty program, that frequency typically jumps to 5 to 8 times per year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40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QS/avCpQ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operRev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Oprev/avPwi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QS/avCpQ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7228647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48,5701861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-705289,1712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1422506397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-0,991404532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36,62913801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-555478,6631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avCustomerpurchQ(avCpQ)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4,575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28645044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26,69271025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382574,6111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771211675,2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0,332219076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12,18966688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670279,3316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99378464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0,775511376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279584,2995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#N/A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0,900312871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186309,5664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#N/A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06753212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1,727284358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#N/A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4,515692639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#N/A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72885174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2,70035E+11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78167380505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#N/A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3,13491E+11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34711254550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#N/A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91093133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295730645"/>
                  </a:ext>
                </a:extLst>
              </a:tr>
              <a:tr h="19232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u="none" strike="noStrike">
                          <a:effectLst/>
                        </a:rPr>
                        <a:t>k</a:t>
                      </a:r>
                      <a:r>
                        <a:rPr lang="en-US" sz="400" u="none" strike="noStrike">
                          <a:effectLst/>
                        </a:rPr>
                        <a:t>imprtnt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48,5701861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00626781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more than 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294494698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prediction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00344787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2882944,663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191319,1831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1,22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150,7379765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50,7379765</a:t>
                      </a: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37685377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1912553,645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156819,0025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1,2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141,8399945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41,83999451</a:t>
                      </a: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74345759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1348388,126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130682,5021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1,18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124,2239798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24,22397981</a:t>
                      </a: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origine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delta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delta^2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247470757"/>
                  </a:ext>
                </a:extLst>
              </a:tr>
              <a:tr h="307719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1085449,145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110747,8831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Temp of Customers(chain)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1 174 137,00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88 687,86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           7 865 535 657,55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47148988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723081,6795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88766,15479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511 782,00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-     211 299,68 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        44 647 554 549,46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40266282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636771,2066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72468,09815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   793 307,00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156 535,79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        24 503 454 617,46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38794069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2020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1272159,969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71028,93528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              1 238 236,00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-        33 923,97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           1 150 835 680,18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1619559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157497621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err^2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                      139 792,15   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44" marR="4244" marT="4244" marB="0" anchor="b"/>
                </a:tc>
                <a:extLst>
                  <a:ext uri="{0D108BD9-81ED-4DB2-BD59-A6C34878D82A}">
                    <a16:rowId xmlns:a16="http://schemas.microsoft.com/office/drawing/2014/main" val="942559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993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B0AD9F-8C36-1496-BBAB-D2FDC9A3A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59872"/>
              </p:ext>
            </p:extLst>
          </p:nvPr>
        </p:nvGraphicFramePr>
        <p:xfrm>
          <a:off x="715433" y="914400"/>
          <a:ext cx="7090833" cy="279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1763">
                  <a:extLst>
                    <a:ext uri="{9D8B030D-6E8A-4147-A177-3AD203B41FA5}">
                      <a16:colId xmlns:a16="http://schemas.microsoft.com/office/drawing/2014/main" val="1880466920"/>
                    </a:ext>
                  </a:extLst>
                </a:gridCol>
                <a:gridCol w="1172389">
                  <a:extLst>
                    <a:ext uri="{9D8B030D-6E8A-4147-A177-3AD203B41FA5}">
                      <a16:colId xmlns:a16="http://schemas.microsoft.com/office/drawing/2014/main" val="2514017598"/>
                    </a:ext>
                  </a:extLst>
                </a:gridCol>
                <a:gridCol w="960511">
                  <a:extLst>
                    <a:ext uri="{9D8B030D-6E8A-4147-A177-3AD203B41FA5}">
                      <a16:colId xmlns:a16="http://schemas.microsoft.com/office/drawing/2014/main" val="2365063470"/>
                    </a:ext>
                  </a:extLst>
                </a:gridCol>
                <a:gridCol w="1370141">
                  <a:extLst>
                    <a:ext uri="{9D8B030D-6E8A-4147-A177-3AD203B41FA5}">
                      <a16:colId xmlns:a16="http://schemas.microsoft.com/office/drawing/2014/main" val="3479537482"/>
                    </a:ext>
                  </a:extLst>
                </a:gridCol>
                <a:gridCol w="1186514">
                  <a:extLst>
                    <a:ext uri="{9D8B030D-6E8A-4147-A177-3AD203B41FA5}">
                      <a16:colId xmlns:a16="http://schemas.microsoft.com/office/drawing/2014/main" val="2328386696"/>
                    </a:ext>
                  </a:extLst>
                </a:gridCol>
                <a:gridCol w="1299515">
                  <a:extLst>
                    <a:ext uri="{9D8B030D-6E8A-4147-A177-3AD203B41FA5}">
                      <a16:colId xmlns:a16="http://schemas.microsoft.com/office/drawing/2014/main" val="2682642659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u="none" strike="noStrike" dirty="0">
                          <a:effectLst/>
                        </a:rPr>
                        <a:t>Y^EBIDTA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u="none" strike="noStrike" dirty="0">
                          <a:effectLst/>
                        </a:rPr>
                        <a:t>X^QS/</a:t>
                      </a:r>
                      <a:r>
                        <a:rPr lang="en-US" sz="800" u="none" strike="noStrike" dirty="0" err="1">
                          <a:effectLst/>
                        </a:rPr>
                        <a:t>avCpQ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 changing rate</a:t>
                      </a: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 %</a:t>
                      </a:r>
                    </a:p>
                  </a:txBody>
                  <a:tcPr marL="7620" marR="7620" marT="7620" marB="0" anchor="b">
                    <a:solidFill>
                      <a:srgbClr val="F1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45944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2028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6698416,764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298917,0917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1,26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151,9661933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51,96619333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9822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4407833,49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237235,787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1,24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152,8934477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52,89344768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87543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2882944,663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191319,1831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1,22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150,7379765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50,7379765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8681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1912553,645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156819,0025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1,2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141,8399945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41,83999451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28991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1348388,126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130682,5021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1,18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124,2239798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24,22397981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7674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1085449,145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110747,8831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Temp of Customers(chain)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69906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723081,6795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88766,15479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2064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636771,2066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72468,09815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 % (5y interval)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99821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2020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1272159,969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71028,93528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the boost+% in 5 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169,9077248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219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8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2793</Words>
  <Application>Microsoft Office PowerPoint</Application>
  <PresentationFormat>On-screen Show (4:3)</PresentationFormat>
  <Paragraphs>551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Gelasio Light</vt:lpstr>
      <vt:lpstr>Arial</vt:lpstr>
      <vt:lpstr>Calibri</vt:lpstr>
      <vt:lpstr>Lato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Feliks Khangeldyan</cp:lastModifiedBy>
  <cp:revision>18</cp:revision>
  <dcterms:created xsi:type="dcterms:W3CDTF">2026-06-21T13:02:07Z</dcterms:created>
  <dcterms:modified xsi:type="dcterms:W3CDTF">2026-06-21T23:25:16Z</dcterms:modified>
</cp:coreProperties>
</file>